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Data Tampering Detection: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A500"/>
                </a:solidFill>
              </a:rPr>
              <a:t>Technologies Across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6E4F7"/>
                </a:solidFill>
              </a:rPr>
              <a:t>From checksums and Merkle trees to ML anomaly detection and post-quantum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Reference: Breitenfeld — Tamper Detection and Data Integrity for Self-Describing Scientific Data (S2-D2)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The HDF Group · S2-D2 Research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Seven fields — one question: how do they authenticate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Storage &amp; Filesystems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89888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ZFS, Btrfs, dm-verity, T10-PI, COW snapshots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9967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Software Supply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029967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39696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Code signing, Sigstore, Certificate Transparency, package managers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79776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529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Blockchain &amp; Distributed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779776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889504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Bitcoin/Ethereum Merkle DAGs, IPFS, LOCKSS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29584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027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Scientific Data Formats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529584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639312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HDF5, NetCDF, Zarr, Parquet — and their gaps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79392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525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 &amp;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279392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389120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Data poisoning attacks, ML anomaly detection, QML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29200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023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Cybersecurity &amp; Forensics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5029200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5138928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NTFS journals, IMA/EVM, tamper-tolerant software (TTS)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779008"/>
            <a:ext cx="3840480" cy="603504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Long-term Archival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5779008"/>
            <a:ext cx="7589520" cy="603504"/>
          </a:xfrm>
          <a:prstGeom prst="rect">
            <a:avLst/>
          </a:prstGeom>
          <a:solidFill>
            <a:srgbClr val="1E4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888736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7"/>
                </a:solidFill>
              </a:rPr>
              <a:t>Post-quantum signatures, hybrid schemes, TSA timestamping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Data Tampering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The threat is real, consequential, and spans every domain that stores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15000" cy="2377440"/>
          </a:xfrm>
          <a:prstGeom prst="rect">
            <a:avLst/>
          </a:prstGeom>
          <a:solidFill>
            <a:srgbClr val="7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350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007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0.1 % poisoned training samples → &gt; 80 % error-rate increase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84831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Data poisoning attacks corrupt model behavior at minimal adversarial cost.
HDF5 files serving as ML training corpora are a direct attack surface.
Source: NeurIPS 2020 data-poisoning 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7" y="1261872"/>
            <a:ext cx="5715000" cy="2377440"/>
          </a:xfrm>
          <a:prstGeom prst="rect">
            <a:avLst/>
          </a:prstGeom>
          <a:solidFill>
            <a:srgbClr val="1A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3350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Scientific Archives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007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Datasets retained 30–100 years across shared filesystems, tape, and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84831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Silent bit-rot, malicious insiders, in-transit attackers, and future quantum
adversaries can all modify data. Current HDF5 has no cryptographic auth.
Source: §1 — S2-D2 research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76472"/>
            <a:ext cx="5715000" cy="2377440"/>
          </a:xfrm>
          <a:prstGeom prst="rect">
            <a:avLst/>
          </a:prstGeom>
          <a:solidFill>
            <a:srgbClr val="B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496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Software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215383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SolarWinds, XZ Utils: build artifacts tampered before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599432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Unsigned or weakly authenticated binaries enable nation-state attacks.
Code signing and transparency logs now mandatory in major ecosystems.
Source: §3.6 — hash chains and append-only transparency 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3776472"/>
            <a:ext cx="5715000" cy="2377440"/>
          </a:xfrm>
          <a:prstGeom prst="rect">
            <a:avLst/>
          </a:prstGeom>
          <a:solidFill>
            <a:srgbClr val="1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8496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Forensics &amp; 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215383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Tampered evidence or sensor logs — chain of custody requires proof of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599432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NTFS journals, digital signatures, and trusted timestamps are used
to prove that files have not been modified since collection.
Source: tamper-detection notes — forensic journal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Landscape: Detection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Ordered by strength of guarantee — from error detection to cryptographic 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07008"/>
            <a:ext cx="1975104" cy="38404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243584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207008"/>
            <a:ext cx="3163824" cy="38404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2576" y="1243584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207008"/>
            <a:ext cx="2386584" cy="38404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243584"/>
            <a:ext cx="2350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Guarantee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07008"/>
            <a:ext cx="694944" cy="38404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9015" y="1243584"/>
            <a:ext cx="6583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Adv?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207008"/>
            <a:ext cx="832103" cy="38404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1243584"/>
            <a:ext cx="795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Public?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207008"/>
            <a:ext cx="1700784" cy="384048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1243584"/>
            <a:ext cx="16642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PQ?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609344"/>
            <a:ext cx="11155680" cy="4480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" y="1664208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Error-detection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2576" y="1664208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CRC-32, Fletcher, Adler, Reed-Solomon, T10-PI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1664208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Non-adversarial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5" y="1664208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1664208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1664208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093976"/>
            <a:ext cx="1115568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" y="2148840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Cryptographic hashes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2576" y="2148840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SHA-256, BLAKE3, SHA-3, KangarooTwelve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4416" y="2148840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Adversarial w/ signature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5" y="2148840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1976" y="2148840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2148840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578608"/>
            <a:ext cx="11155680" cy="4480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" y="2633472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MACs / AEAD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2633472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HMAC-SHA-256, ChaCha20-Poly1305, AES-GCM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4416" y="2633472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Shared-key 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5" y="2633472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2633472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12096" y="2633472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063240"/>
            <a:ext cx="1115568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" y="3118104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Digital signatures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3118104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Ed25519, ECDSA, RSA-PSS, ML-DSA, SLH-DSA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4416" y="3118104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Non-repudiable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9015" y="3118104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3118104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2096" y="3118104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Classical: ✗  PQ: 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3547872"/>
            <a:ext cx="11155680" cy="4480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456" y="3602736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Merkle trees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22576" y="3602736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Git, ZFS, Bitcoin, IPFS, HDF5 (proposed)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14416" y="3602736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Subset proofs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9015" y="3602736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51976" y="3602736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12096" y="3602736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032504"/>
            <a:ext cx="1115568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" y="4087368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Blockchain / logs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22576" y="4087368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Bitcoin, Ethereum, Sigstore Rekor, CT logs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14416" y="4087368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Append-only ledger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9015" y="4087368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51976" y="4087368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12096" y="4087368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Classical: 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517136"/>
            <a:ext cx="11155680" cy="4480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" y="4572000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ML anomaly detection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22576" y="4572000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Outlier scoring, QML, neural detectors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14416" y="4572000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Probabilistic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29015" y="4572000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51976" y="4572000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12096" y="4572000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5001768"/>
            <a:ext cx="11155680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9456" y="5056631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Forensic journals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22576" y="5056631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NTFS $UsnJrnl, Linux IMA, $LogFile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4416" y="5056631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Post-hoc attribution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29015" y="5056631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51976" y="5056631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12096" y="5056631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5486400"/>
            <a:ext cx="11155680" cy="448056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9456" y="5541264"/>
            <a:ext cx="1938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Tamper-tolerant SW (TTS)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22576" y="5541264"/>
            <a:ext cx="31272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Obfuscation, self-checks, graceful degrade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14416" y="5541264"/>
            <a:ext cx="23500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Tolerance, not proof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29015" y="5541264"/>
            <a:ext cx="6583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51976" y="5541264"/>
            <a:ext cx="79552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12096" y="5541264"/>
            <a:ext cx="16642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" y="6400800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</a:rPr>
              <a:t>Adv = defeats adversarial tampering  |  Public = verifiable without secret key  |  PQ = post-quantum safe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Storage &amp; Filesystems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The most mature integrity infrastructure — but guarantees are stripped in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60720" cy="1508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350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T10-PI / CRC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82495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SCSI Protection Information (T10-DIF): hardware-accelerated end-to-end CRC
from compute node to physical drive. Used in enterprise SAN/NVMe.
Non-adversarial only — linear codes are invertible by an adversary.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60720" cy="1508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350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ZFS block Merkle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82495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Fletcher4 or SHA-256 checksum per block, arranged in a Merkle-style hierarchy.
Enables silent-corruption detection and self-healing from redundant copies.
Also used internally by Git (content-addressed Merkle DAG) and IPFS.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89504"/>
            <a:ext cx="5760720" cy="1508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96265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Copy-on-Write (COW)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10128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Both ZFS and Btrfs write mutations as new blocks, preserving immutable snapshots.
COW enables point-in-time rollback and self-healing — but does NOT authenticate.
An adversary with write access produces a valid COW snapshot of tampered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89504"/>
            <a:ext cx="5760720" cy="1508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6265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dm-verity / fs-verity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0128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Linux kernel-enforced Merkle hashes bound to read-time policy (Android Verified Boot).
fs-verity signs a per-file Merkle tree; reads are verified on-the-fly by the kernel.
Vendor-locked: guarantee evaporates when the file is copied off the protected volume.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17136"/>
            <a:ext cx="11612880" cy="1508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590288"/>
            <a:ext cx="11384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DAOS / Lustre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937759"/>
            <a:ext cx="11384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Exascale HPC object stores: DAOS provides native end-to-end AEAD integrity over NVMe.
Lustre uses Adler-32 / CRC-32 wire checksums with T10-PI hardware acceleration.
HPC-scale but infrastructure-local — no portability across institutions.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27648"/>
            <a:ext cx="12188952" cy="210312"/>
          </a:xfrm>
          <a:prstGeom prst="rect">
            <a:avLst/>
          </a:prstGeom>
          <a:solidFill>
            <a:srgbClr val="B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33679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Key limitation: integrity is tied to the storage substrate. Copy to S3 / tape / collaborator laptop — guarantee is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Software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Code signing and transparency logs now mandatory — lessons applicable to scientific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350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Code signing certificates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82495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Windows Authenticode, Apple notarization, RPM GPG.
Each binary/package is signed with a private key; verifiers check against a trusted CA.
Per-artifact signatures — no subset proof needed since the artifact is atomic.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350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Package manager Merkle trees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82495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npm, Cargo, PyPI, apt — each registry uses a Merkle tree over all published packages.
A single signed root commits to the entire registry; clients verify inclusion proofs.
Directly analogous to the HDF5 Merkle-tree proposal at the file level.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26080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9992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Certificate Transparency (CT)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46704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Append-only Merkle log of all TLS certificates (RFC 6962).
Any certificate not in the public log is rejected by browsers.
Tamper-evident: altering a past entry breaks every subsequent root hash.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Sigstore Rekor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46704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Sigstore extends CT to software artifacts: binaries, container images, SBOMs.
Signers get a transparency log inclusion proof; verifiers check it without a PKI.
Proposed as a freshness layer for HDF5 signed roots (§5.9 of S2-D2 plan).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90288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Secure Boot / UEFI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10912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Platform firmware chain-of-trust: each boot stage verifies the next against a signature.
TPM 2.0 extends measured boot to OS and application layers.
Hardware-rooted attestation — vendor-locked but extremely strong within its trust domain.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590288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SBOM + VEX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10912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Software Bill of Materials (SBOM) lists all components; VEX documents known vulnerabilities.
Integrity of the SBOM itself must be signed — otherwise an adversary can strip vulnerability data.
Emerging standard: CycloneDX, SPDX signed with Sigstore.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Blockchain &amp; Distributed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Merkle trees are the integrity primitive inside every major blockchain — inherited without the consensus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350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Bitcoin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82495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Each block header commits to a Merkle tree of all transactions.
Light clients verify transaction inclusion with O(log N) proofs.
SHA-256d — not post-quantum, but consensus makes forgery computationally infeasible.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61872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3502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Ethereum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82495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Merkle-Patricia trie over world state (accounts, storage, code).
State root in each block header; ZK rollups use KZG/STARK proofs over state transitions.
Verkle tree migration underway for shorter witness sizes.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26080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9992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IPFS / IPLD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46704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Content-addressed Merkle DAG: every object identified by its hash (CID).
Retrieving a CID guarantees content integrity — any corruption changes the address.
Used for archival of NFT metadata, scientific datasets, and Web3 applications.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992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LOCKSS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46704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Lots of Copies Keep Stuff Safe — peer-to-peer digital preservation.
Redundant replicas perform mutual integrity audits (polling-based consensus).
Used by university libraries to preserve electronic journals and government records.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90288"/>
            <a:ext cx="5760720" cy="153619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Merkle Mountain Ranges (MMR)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10912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Append-friendly alternative to balanced binary Merkle trees.
Used in Grin (cryptocurrency) and proposed for Certificate Transparency v2.
Better amortized append cost than balanced trees — relevant to sensor-log archives.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590288"/>
            <a:ext cx="5760720" cy="153619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Key insight for scientific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10912"/>
            <a:ext cx="553212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blockchain integrity rests on a Merkle tree.
The consensus layer (mining, PoS) is needed for distributed coordination.
For a closed-organization archive, the Merkle tree can be inherited without consensus.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Scientific Data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Existing formats protect against accidental corruption — none provide cryptographic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88720"/>
            <a:ext cx="2322576" cy="347472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25296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798064" cy="347472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2252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 integrity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188720"/>
            <a:ext cx="4489704" cy="347472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3" y="122529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554480"/>
            <a:ext cx="9829799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160934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HDF5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16093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Jenkins lookup3 on metadata pages; fletcher32 chunk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160934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Non-adversarial CRC only. No per-chunk auth, no subset proofs, no signing.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2103120"/>
            <a:ext cx="9829799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15798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NetCDF / CDF-5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215798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CDF-5 adds 64-bit variables; external integrity pipelines explored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3" y="215798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No sub-file granularity integrity. No adversarial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651760"/>
            <a:ext cx="9829799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270662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Zarr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6624" y="270662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Per-chunk CRC-32C or SHA-256 codecs per chunk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2703" y="270662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Flat hashes — no hierarchical aggregation enabling subset coverage proofs.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" y="3200400"/>
            <a:ext cx="9829799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325526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Apache Parquet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6624" y="325526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Per-page CRC-32 checksums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2703" y="325526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Non-adversarial. No signing, no subset proofs, no PQ path.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749039"/>
            <a:ext cx="9829799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803903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ASDF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6624" y="3803903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Per-block checksums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32703" y="3803903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Flat only — no Merkle tree, no signatures.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297680"/>
            <a:ext cx="9829799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435254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FITS / DICOM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6624" y="43525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Weak or absent integrity primitives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2703" y="435254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No cryptographic integrity at all. Widely used in astronomy and medical imaging.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4846320"/>
            <a:ext cx="9829799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4901183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TileDB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6624" y="4901183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AES-256-GCM at-rest tile encryption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32703" y="4901183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020"/>
                </a:solidFill>
              </a:rPr>
              <a:t>Relies on cloud store for object integrity. No verifiable-subset capability.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5394960"/>
            <a:ext cx="9829799" cy="512063"/>
          </a:xfrm>
          <a:prstGeom prst="rect">
            <a:avLst/>
          </a:prstGeom>
          <a:solidFill>
            <a:srgbClr val="C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5449824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5020"/>
                </a:solidFill>
              </a:rPr>
              <a:t>HDF5 + Merkle
(proposed S2-D2)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06624" y="544982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5020"/>
                </a:solidFill>
              </a:rPr>
              <a:t>Merkle tree over chunks + hybrid PQ signature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2703" y="544982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3C"/>
                </a:solidFill>
              </a:rPr>
              <a:t>Subset proofs, tamper localization, incremental update, post-quantum. First of its kind.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Machine Learning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ML datasets are a high-value attack surface — and ML itself is used for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1548872" cy="804672"/>
          </a:xfrm>
          <a:prstGeom prst="rect">
            <a:avLst/>
          </a:prstGeom>
          <a:solidFill>
            <a:srgbClr val="7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poisoning threat:  0.1 % of corrupted training samples → &gt; 80 % increase in model error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CCC"/>
                </a:solidFill>
              </a:rPr>
              <a:t>When HDF5 files serve as training corpora, cryptographic integrity is a prerequisite for trustworthy ML. (NeurIPS 2020)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5760720" cy="135331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267712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Attack: Data Poisoning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96896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Adversary injects mislabeled or corrupted samples into a training dataset.
Targeted (backdoor) attacks alter model behavior on specific inputs only.
0.1 % corruption is enough for catastrophic model degradation (NeurIPS 2020).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212848"/>
            <a:ext cx="5760720" cy="135331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Attack: Model Inversion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96896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Adversary queries a trained model to reconstruct training data.
Integrity protection of training sets limits the attack surface.
Not directly a tampering attack, but motivates data provenance.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75887"/>
            <a:ext cx="5760720" cy="135331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730751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Defense: ML 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059935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Outlier detectors flag samples that deviate statistically from the training distribution.
Reported accuracy: 75–95 % for targeted poisoning attacks.
Probabilistic — cannot provide cryptographic binding to a signer.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675887"/>
            <a:ext cx="5760720" cy="1353312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30751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Defense: QML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59935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Quantum ML approaches (quantum amplitude estimation, quantum kernel methods)
accelerate inner-product computation for nearest-neighbor outlier scoring.
Active research; not yet production-grade for large-scale scientific arrays.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38928"/>
            <a:ext cx="5760720" cy="135331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193792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Defense: Cryptographic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522976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Hash the dataset before training; verify before use.
Merkle tree enables per-chunk verification without full re-read.
Only approach that provides a proof, not just a signal.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138928"/>
            <a:ext cx="5760720" cy="1353312"/>
          </a:xfrm>
          <a:prstGeom prst="rect">
            <a:avLst/>
          </a:prstGeom>
          <a:solidFill>
            <a:srgbClr val="1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93792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Integration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522976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ML anomaly detection + Merkle authentication are complementary.
Merkle detects ANY byte change; ML detects semantically suspicious patterns.
Neither alone is sufficient for high-stakes training data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Cybersecurity &amp;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Post-hoc attribution, runtime protection, and the limits of non-cryptographic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5715000" cy="2240280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350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NTFS Journals
($UsnJrnl, $LogFile)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5486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Update Sequence Number journal records every filesystem write at the volume level.
$LogFile is the NTFS transaction log for crash recovery.
Used in forensic investigation to reconstruct which files were modified and by which process.
Limitation: provides attribution evidence post-hoc; does not prevent tampering
and requires trusting the host OS and storage administrator.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261872"/>
            <a:ext cx="5715000" cy="2240280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3350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Linux IMA / EVM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719072"/>
            <a:ext cx="5486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Integrity Measurement Architecture: records SHA-1/SHA-256 of every executed file.
Extended Verification Module: HMAC or signature over file metadata + content.
Kernel-enforced: files not matching the stored hash are blocked from execution.
Limitation: tied to a specific kernel instance; no portability across platforms.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21024"/>
            <a:ext cx="5715000" cy="2240280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6941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Tamper-Tolerant Software (TTS)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078224"/>
            <a:ext cx="5486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Combines obfuscation, self-checking guard threads, and graceful-degradation modes.
Guards periodically compare pre-computed values against runtime state.
On mismatch: crash, degrade, or alert rather than halt.
Used in DRM, embedded systems, and anti-cheat software.
Limitation: no provably secure software anti-tampering exists (Springer WISTP 2009).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621024"/>
            <a:ext cx="5715000" cy="2240280"/>
          </a:xfrm>
          <a:prstGeom prst="rect">
            <a:avLst/>
          </a:prstGeom>
          <a:solidFill>
            <a:srgbClr val="7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36941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</a:rPr>
              <a:t>The Impossibility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078224"/>
            <a:ext cx="548640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There are NO provably secure software anti-tampering methods.
A proof of tamper-resistance requires:
  1. A formal model capturing ALL attack surfaces (impossible for physical systems)
  2. A reduction to an unsolved hard problem
  3. That reduction to hold even when the attacker controls the hardware
→ Cryptographic authentication makes a bounded claim within a stated adversary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Long-Term Archival &amp; Post-Quantum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Scientific archives signed today will be read — and attacked — decades from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solidFill>
            <a:srgbClr val="7A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E0A0"/>
                </a:solidFill>
              </a:rPr>
              <a:t>Shor's algorithm breaks RSA, ECDSA, Ed25519, and BLS pairings. A cryptographically relevant quantum computer in 2040–2050 can forge
signatures over data harvested today — the 'harvest-now, forge-later' threat (T5).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5760720" cy="1426464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10312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NIST PQ Standards
(FIPS 204 / 205)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05456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ML-DSA (Module-Lattice DSA, formerly Dilithium): lattice-based, 2420–4595 B signatures.
SLH-DSA (formerly SPHINCS+): hash-based, stateless, 7856–49856 B signatures.
Both standardized in 2024. Safe to deploy today for long-lived archives.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048256"/>
            <a:ext cx="5760720" cy="1426464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Hybrid Classical + PQ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05456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Ed25519 + ML-DSA-65: classical verifiability today + PQ security tomorrow.
One hybrid signature per file (not per chunk) — storage overhead is negligible.
Recommended transitional design per NIST and IETF drafts.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84448"/>
            <a:ext cx="5760720" cy="1426464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3931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RFC 3161 Trusted Timestamps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041648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TSA (Timestamp Authority) countersigns a hash, proving it existed before a given time.
Prevents rollback attacks (T4): verifier can reject stale versions using TSA evidence.
Necessary for first-time recipients who have no prior version to compare against.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584448"/>
            <a:ext cx="5760720" cy="1426464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3931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Sigstore Rekor (freshness log)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41648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Transparency log entry for each signed root: append-only, publicly auditable.
Provides a tamper-evident temporal record of when a dataset was signed.
Stretch goal in S2-D2 plan (§5.9): enables rollback detection for archived HDF5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120640"/>
            <a:ext cx="5760720" cy="1426464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175503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Why Merkle enables PQ upgrade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577840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The Merkle root is just a hash — swapping SHA-256 for SHA-3 or BLAKE3 is non-breaking.
The signature over the root is the only PQ-sensitive component.
Re-sign the root with ML-DSA without re-reading or re-hashing the entire dataset.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5120640"/>
            <a:ext cx="5760720" cy="1426464"/>
          </a:xfrm>
          <a:prstGeom prst="rect">
            <a:avLst/>
          </a:prstGeom>
          <a:solidFill>
            <a:srgbClr val="22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175503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50-year archival 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77840"/>
            <a:ext cx="5532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IllustrisTNG cosmological simulations: 75 TB, retained for decades.
NOAA climate records: petabytes, legally required retention periods of 30–75 years.
A signature placed today must be verifiable in 2075 — classical-only signatures are insufficient.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Comparison: How Each Field Addresses Tampering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Scientific data (current state) is uniquely underserved among fields that handle high-value, long-lived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170432"/>
            <a:ext cx="165506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197864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70432"/>
            <a:ext cx="284378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2536" y="1197864"/>
            <a:ext cx="2807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Primary 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170432"/>
            <a:ext cx="106070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197864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Adversarial?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70432"/>
            <a:ext cx="96926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197864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Public verify?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170432"/>
            <a:ext cx="96926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1197864"/>
            <a:ext cx="9326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Subset proof?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170432"/>
            <a:ext cx="106070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5" y="1197864"/>
            <a:ext cx="102412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PQ-safe?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170432"/>
            <a:ext cx="2432304" cy="36576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46336" y="1197864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Portable?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554480"/>
            <a:ext cx="11503152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" y="164592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Storage / HPC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536" y="164592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ZFS Merkle, dm-verity, T10-PI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164592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164592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164592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164592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164592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103120"/>
            <a:ext cx="11503152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" y="219456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Software supply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2536" y="219456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Code signing, Sigstore, CT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74336" y="219456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219456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0336" y="219456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5" y="219456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219456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651760"/>
            <a:ext cx="11503152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" y="274320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Blockchain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2536" y="274320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Merkle DAG, consensus ledger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274320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3056" y="274320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0336" y="274320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5" y="274320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46336" y="274320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200400"/>
            <a:ext cx="11503152" cy="512063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" y="329184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2020"/>
                </a:solidFill>
              </a:rPr>
              <a:t>Scientific (today)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02536" y="329184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CRC, flat SHA-256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74336" y="329184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3056" y="329184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0336" y="329184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7615" y="329184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46336" y="329184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749039"/>
            <a:ext cx="11503152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9456" y="3840479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ML /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2536" y="3840479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Anomaly detection, QML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74336" y="3840479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6" y="3840479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0336" y="3840479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7615" y="3840479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46336" y="3840479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297680"/>
            <a:ext cx="11503152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9456" y="438912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Forensics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02536" y="438912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NTFS journals, IMA/EVM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74336" y="438912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6A00"/>
                </a:solidFill>
              </a:rPr>
              <a:t>~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3056" y="438912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438912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57615" y="438912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46336" y="438912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2020"/>
                </a:solidFill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846320"/>
            <a:ext cx="11503152" cy="512063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9456" y="4937759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75E"/>
                </a:solidFill>
              </a:rPr>
              <a:t>Long-term archival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02536" y="4937759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ML-DSA, SLH-DSA, RFC 3161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4937759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6" y="4937759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0336" y="4937759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57615" y="4937759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46336" y="4937759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5394960"/>
            <a:ext cx="11503152" cy="512063"/>
          </a:xfrm>
          <a:prstGeom prst="rect">
            <a:avLst/>
          </a:prstGeom>
          <a:solidFill>
            <a:srgbClr val="C8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9456" y="5486400"/>
            <a:ext cx="1618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3C"/>
                </a:solidFill>
              </a:rPr>
              <a:t>Scientific (S2-D2)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02536" y="548640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75E"/>
                </a:solidFill>
              </a:rPr>
              <a:t>Merkle + hybrid PQ sig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548640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3056" y="548640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0336" y="5486400"/>
            <a:ext cx="932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57615" y="5486400"/>
            <a:ext cx="102412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46336" y="5486400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7A3C"/>
                </a:solidFill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2880" y="6409944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8888"/>
                </a:solidFill>
              </a:rPr>
              <a:t>~ = partial or probabilistic  |  — = not applicable  |  PART (Public) = vendor-specific or infrastructure-bound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Conclusion: Convergent Answer Across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Every field that needs portable, long-lived, publicly verifiable integrity converges on the same primitive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75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S2-D2 · Data Tampering Detection · Technologies Across Fields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✓   Merkle tree  +  hybrid classical / post-quantum signature  =  the convergent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84831"/>
            <a:ext cx="54864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03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Every domain already uses Merkle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414015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Git, Bitcoin, ZFS, IPFS, npm, Certificate Transparency, and Android Verified Boot all rest
on Merkle trees. S2-D2 applies the same well-proven primitive to scientific HDF5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17520"/>
            <a:ext cx="54864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035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gap is at the intersection of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346703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No single field has needed: sub-dataset partial verification + public verifiability +
post-quantum safety + no trusted setup + HPC-feasible build — simultaneously.
Scientific long-lived archives are the first setting that demands all five.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50208"/>
            <a:ext cx="54864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684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ML detection and Merkle auth are complementary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2793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ML anomaly detectors (75–95 % accuracy) catch semantically suspicious changes;
Merkle authentication detects ANY byte change with cryptographic certainty.
Neither alone is sufficient for high-stakes ML training corpora.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882896"/>
            <a:ext cx="54864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01183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impossibility result focuses the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21208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There are no provably secure software anti-tampering methods.
Merkle provides a cryptographic commitment within a stated adversary model — not
a physical tamper-proof seal. That bounded claim is the right one for a software system.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815583"/>
            <a:ext cx="54864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833871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Post-quantum is non-negotiable for 50-year archives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1447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Classical-only signatures on data archived today are at harvest-now, forge-later risk.
NIST FIPS 204 (ML-DSA) + FIPS 205 (SLH-DSA) are standardized and deployable now.
Merkle makes PQ upgrade cheap: re-sign only the root, not the entire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