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88952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6E4F7"/>
                </a:solidFill>
              </a:rPr>
              <a:t>Tamper Detection and Data Integrity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D6E4F7"/>
                </a:solidFill>
              </a:rPr>
              <a:t>for Self-Describing Scientific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Sections 3 &amp; 4 — Survey, Requirements, and Selection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290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D6E4F7"/>
                </a:solidFill>
              </a:rPr>
              <a:t>Which integrity primitive survives 50-year scientific archives?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8888"/>
                </a:solidFill>
              </a:rPr>
              <a:t>M. Scot Breitenfeld · The HDF Group · S2-D2 Research Plan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Roadmap for This Section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56248"/>
            <a:ext cx="1179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S2-D2 · Tamper Detection &amp; Data Integrity · Sections 3 &amp; 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594360" cy="5029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80744"/>
            <a:ext cx="594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375E"/>
                </a:solidFill>
              </a:rPr>
              <a:t>§3</a:t>
            </a:r>
          </a:p>
        </p:txBody>
      </p:sp>
      <p:sp>
        <p:nvSpPr>
          <p:cNvPr id="9" name="Rectangle 8"/>
          <p:cNvSpPr/>
          <p:nvPr/>
        </p:nvSpPr>
        <p:spPr>
          <a:xfrm>
            <a:off x="1078992" y="1325880"/>
            <a:ext cx="10515600" cy="50292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1362456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Survey of integrity primitives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38988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7"/>
                </a:solidFill>
              </a:rPr>
              <a:t>14 families — capability and killer flaw for HDF5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167128"/>
            <a:ext cx="594360" cy="5029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221992"/>
            <a:ext cx="594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375E"/>
                </a:solidFill>
              </a:rPr>
              <a:t>§3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78992" y="2167128"/>
            <a:ext cx="10515600" cy="50292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2203704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What the survey reveals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231136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7"/>
                </a:solidFill>
              </a:rPr>
              <a:t>Four structural barriers that drive the requirements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08376"/>
            <a:ext cx="594360" cy="5029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063240"/>
            <a:ext cx="594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375E"/>
                </a:solidFill>
              </a:rPr>
              <a:t>§4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78992" y="3008376"/>
            <a:ext cx="10515600" cy="50292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70432" y="3044952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Threat model (T1–T8)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072384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7"/>
                </a:solidFill>
              </a:rPr>
              <a:t>Eight threats that motivate the requirements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849624"/>
            <a:ext cx="594360" cy="5029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3904487"/>
            <a:ext cx="594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375E"/>
                </a:solidFill>
              </a:rPr>
              <a:t>§4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78992" y="3849624"/>
            <a:ext cx="10515600" cy="50292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3886200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Twelve requirements (R1–R12)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91363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7"/>
                </a:solidFill>
              </a:rPr>
              <a:t>What any primitive must satisfy for HDF5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690872"/>
            <a:ext cx="594360" cy="5029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4745736"/>
            <a:ext cx="594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375E"/>
                </a:solidFill>
              </a:rPr>
              <a:t>§4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78992" y="4690872"/>
            <a:ext cx="10515600" cy="50292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4727448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Comparison table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4754880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7"/>
                </a:solidFill>
              </a:rPr>
              <a:t>All twelve requirements scored across seven alternatives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5532120"/>
            <a:ext cx="594360" cy="5029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5586984"/>
            <a:ext cx="594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375E"/>
                </a:solidFill>
              </a:rPr>
              <a:t>§4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78992" y="5532120"/>
            <a:ext cx="10515600" cy="50292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0432" y="5568696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Selection: Merkle + PQ signature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559612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7"/>
                </a:solidFill>
              </a:rPr>
              <a:t>The only R1–R12-complete, quantum-safe option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§3  Survey: 14 Integrity Primitive Families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7"/>
                </a:solidFill>
              </a:rPr>
              <a:t>Each surveyed for suitability on multi-terabyte, long-lived, chunked scientific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56248"/>
            <a:ext cx="1179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S2-D2 · Tamper Detection &amp; Data Integrity · Sections 3 &amp; 4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261872"/>
            <a:ext cx="5833872" cy="64008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" y="1289304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Error-detection codes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1508760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6E4F7"/>
                </a:solidFill>
              </a:rPr>
              <a:t>CRC-32, Fletcher-32, Adler-32, T10-PI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1682495"/>
            <a:ext cx="5577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AA"/>
                </a:solidFill>
              </a:rPr>
              <a:t>Invertible in closed form — cannot resist adversarial tampering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956815"/>
            <a:ext cx="5833872" cy="64008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" y="1984247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Cryptographic hashes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" y="2203703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6E4F7"/>
                </a:solidFill>
              </a:rPr>
              <a:t>SHA-256, BLAKE3, SHA-3, KangarooTwelve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" y="2377439"/>
            <a:ext cx="5577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AA"/>
                </a:solidFill>
              </a:rPr>
              <a:t>Flat hash: verifying any chunk requires re-reading every byte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2651760"/>
            <a:ext cx="5833872" cy="64008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679191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MACs / AEAD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2898648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6E4F7"/>
                </a:solidFill>
              </a:rPr>
              <a:t>HMAC-SHA-256, ChaCha20-Poly1305, AES-GCM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" y="3072384"/>
            <a:ext cx="5577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AA"/>
                </a:solidFill>
              </a:rPr>
              <a:t>Secret key required — third-party auditors and collaborators locked out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" y="3346704"/>
            <a:ext cx="5833872" cy="64008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2608" y="3374136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Classical signatures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" y="3593592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6E4F7"/>
                </a:solidFill>
              </a:rPr>
              <a:t>Ed25519, ECDSA P-256, RSA-PSS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" y="3767328"/>
            <a:ext cx="5577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AA"/>
                </a:solidFill>
              </a:rPr>
              <a:t>Broken by Shor's algorithm — 50-year archives signed today are at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4041648"/>
            <a:ext cx="5833872" cy="64008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4069080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Post-quantum signatures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" y="4288536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6E4F7"/>
                </a:solidFill>
              </a:rPr>
              <a:t>ML-DSA-65, SLH-DSA, XMSS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" y="4462272"/>
            <a:ext cx="5577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AA"/>
                </a:solidFill>
              </a:rPr>
              <a:t>Per-chunk: 33 GB of sigs + 3 CPU-hours to sign 10⁷ chunks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2880" y="4736592"/>
            <a:ext cx="5833872" cy="640080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2608" y="4764024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</a:rPr>
              <a:t>Hash trees / ADS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" y="4983479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0FFC0"/>
                </a:solidFill>
              </a:rPr>
              <a:t>Merkle binary, SMT, Merkle Mountain Range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" y="5157216"/>
            <a:ext cx="5577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0A500"/>
                </a:solidFill>
              </a:rPr>
              <a:t>→ THE CANDIDATE  (the only family that meets all §4 requirements)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" y="5431536"/>
            <a:ext cx="5833872" cy="64008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2608" y="5458968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Verkle / KZG commitments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2608" y="5678424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6E4F7"/>
                </a:solidFill>
              </a:rPr>
              <a:t>KZG polynomial, Ethereum Verkle tree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608" y="5852160"/>
            <a:ext cx="5577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AA"/>
                </a:solidFill>
              </a:rPr>
              <a:t>Trusted-setup ceremony required; pairing broken by Shor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99632" y="1261872"/>
            <a:ext cx="5833872" cy="64008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289304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Cryptographic accumulators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1508760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6E4F7"/>
                </a:solidFill>
              </a:rPr>
              <a:t>RSA accumulator, bilinear accumulator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1682495"/>
            <a:ext cx="5577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AA"/>
                </a:solidFill>
              </a:rPr>
              <a:t>Trusted setup + not PQ + set-based (no chunk order)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99632" y="1956815"/>
            <a:ext cx="5833872" cy="64008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1984247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ZK-SNARKs / Folding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9360" y="2203703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6E4F7"/>
                </a:solidFill>
              </a:rPr>
              <a:t>Groth16, PLONK, Nova, HyperNova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2377439"/>
            <a:ext cx="5577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AA"/>
                </a:solidFill>
              </a:rPr>
              <a:t>O(N) proving cost; &gt; 24 h to commit 10⁷ chunks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99632" y="2651760"/>
            <a:ext cx="5833872" cy="64008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679191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Transparency logs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9360" y="2898648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6E4F7"/>
                </a:solidFill>
              </a:rPr>
              <a:t>Certificate Transparency, Sigstore Rekor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3072384"/>
            <a:ext cx="5577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AA"/>
                </a:solidFill>
              </a:rPr>
              <a:t>Append-only — HDF5 workloads overwrite chunks in place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99632" y="3346704"/>
            <a:ext cx="5833872" cy="64008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374136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TEE / fs-verity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0" y="3593592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6E4F7"/>
                </a:solidFill>
              </a:rPr>
              <a:t>Intel SGX, ARM TrustZone, Linux fs-verity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3767328"/>
            <a:ext cx="5577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AA"/>
                </a:solidFill>
              </a:rPr>
              <a:t>Vendor-locked; stripped when file is transferred or archived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99632" y="4041648"/>
            <a:ext cx="5833872" cy="64008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09360" y="4069080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FS / cloud checksums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09360" y="4288536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6E4F7"/>
                </a:solidFill>
              </a:rPr>
              <a:t>ZFS, Btrfs, S3 ETag, GCS CRC32C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0" y="4462272"/>
            <a:ext cx="5577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AA"/>
                </a:solidFill>
              </a:rPr>
              <a:t>Stripped in transfer; no partial verification; no non-repudiation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99632" y="4736592"/>
            <a:ext cx="5833872" cy="64008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09360" y="4764024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Scientific format checksums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0" y="4983479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6E4F7"/>
                </a:solidFill>
              </a:rPr>
              <a:t>NetCDF CDF-5, Zarr v3 chunk hashes, Parquet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0" y="5157216"/>
            <a:ext cx="5577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AA"/>
                </a:solidFill>
              </a:rPr>
              <a:t>Non-adversarial; no public signing or subset-proof capability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199632" y="5431536"/>
            <a:ext cx="5833872" cy="64008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09360" y="5458968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W3C PROV / lineage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0" y="5678424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6E4F7"/>
                </a:solidFill>
              </a:rPr>
              <a:t>PROV-DM, ProvONE, PROV-JSON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0" y="5852160"/>
            <a:ext cx="5577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AA"/>
                </a:solidFill>
              </a:rPr>
              <a:t>Provenance graph — complements integrity but is not a substitute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§3  What the Survey Reveals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7"/>
                </a:solidFill>
              </a:rPr>
              <a:t>Four structural barriers that no alternative escapes simultaneously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56248"/>
            <a:ext cx="1179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S2-D2 · Tamper Detection &amp; Data Integrity · Sections 3 &amp; 4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566928" cy="114300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618488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A375E"/>
                </a:solidFill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987552" y="1298448"/>
            <a:ext cx="10881360" cy="114300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1353312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Non-cryptographic codes are invertible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700784"/>
            <a:ext cx="106070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7"/>
                </a:solidFill>
              </a:rPr>
              <a:t>CRC, Fletcher, and Adler all admit closed-form corrections.
An adversary computes a matching tail that preserves the checksum — no brute force needed.
→  The integrity primitive must be cryptographic at its core.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596896"/>
            <a:ext cx="566928" cy="114300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916936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A375E"/>
                </a:solidFill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7552" y="2596896"/>
            <a:ext cx="10881360" cy="114300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Symmetric auth requires a shared secret — rules out public verifiability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999232"/>
            <a:ext cx="106070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7"/>
                </a:solidFill>
              </a:rPr>
              <a:t>MACs and AEAD are ideal per-chunk tools, but the verifier must hold the key.
Third-party auditors, archive mirrors, and collaborators cannot verify.
→  Public verifiability eliminates any purely symmetric scheme as the root.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895344"/>
            <a:ext cx="566928" cy="114300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4215383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A375E"/>
                </a:solidFill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" y="3895344"/>
            <a:ext cx="10881360" cy="114300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950207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Pairing- and factoring-based schemes fail the 50-year archival horizon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297680"/>
            <a:ext cx="106070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7"/>
                </a:solidFill>
              </a:rPr>
              <a:t>Shor's algorithm breaks ECDSA, Ed25519, RSA, BLS12-381 pairings, and KZG commitments.
Scientific archives are signed today and verified in 2040–2070.
→  The post-quantum requirement eliminates Verkle, BLS aggregation, and RSA/bilinear accumulators.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5193792"/>
            <a:ext cx="566928" cy="114300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5513831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A375E"/>
                </a:solidFill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" y="5193792"/>
            <a:ext cx="10881360" cy="114300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5248655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Trusted-setup ceremonies are unacceptable for long-lived archives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596128"/>
            <a:ext cx="106070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7"/>
                </a:solidFill>
              </a:rPr>
              <a:t>KZG, Verkle, and RSA accumulators require an MPC ceremony whose
parameters must be trusted for the archive's entire lifetime.
→  No-trusted-setup eliminates every scheme with a structured reference string.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§4  Threat Model: Eight Threats That Drive the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7"/>
                </a:solidFill>
              </a:rPr>
              <a:t>Adversary model defined before requirements — threats first, then what the primitive must resist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56248"/>
            <a:ext cx="1179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S2-D2 · Tamper Detection &amp; Data Integrity · Sections 3 &amp; 4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280160"/>
            <a:ext cx="5760720" cy="109728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280160"/>
            <a:ext cx="548640" cy="109728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1591056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75E"/>
                </a:solidFill>
              </a:rPr>
              <a:t>T1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26280" y="1353312"/>
            <a:ext cx="1353312" cy="329184"/>
          </a:xfrm>
          <a:prstGeom prst="rect">
            <a:avLst/>
          </a:prstGeom>
          <a:solidFill>
            <a:srgbClr val="B03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1362456"/>
            <a:ext cx="1316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TCD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1335024"/>
            <a:ext cx="3749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Storage-level tampering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1755648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6E4F7"/>
                </a:solidFill>
              </a:rPr>
              <a:t>Adversary with storage access modifies chunk data or metadata — targeted or wholesale replacement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2450591"/>
            <a:ext cx="5760720" cy="109728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" y="2450591"/>
            <a:ext cx="548640" cy="109728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8600" y="2761487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75E"/>
                </a:solidFill>
              </a:rPr>
              <a:t>T2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26280" y="2523744"/>
            <a:ext cx="1353312" cy="329184"/>
          </a:xfrm>
          <a:prstGeom prst="rect">
            <a:avLst/>
          </a:prstGeom>
          <a:solidFill>
            <a:srgbClr val="B03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44568" y="2532887"/>
            <a:ext cx="1316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FMT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" y="2505456"/>
            <a:ext cx="3749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Silent data corruption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" y="2926079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6E4F7"/>
                </a:solidFill>
              </a:rPr>
              <a:t>Hardware bit-flips, firmware bugs, or filesystem errors corrupt chunks undetected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" y="3621024"/>
            <a:ext cx="5760720" cy="109728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600" y="3621024"/>
            <a:ext cx="548640" cy="109728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8600" y="39319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75E"/>
                </a:solidFill>
              </a:rPr>
              <a:t>T3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26280" y="3694176"/>
            <a:ext cx="1353312" cy="329184"/>
          </a:xfrm>
          <a:prstGeom prst="rect">
            <a:avLst/>
          </a:prstGeom>
          <a:solidFill>
            <a:srgbClr val="B03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44568" y="3703320"/>
            <a:ext cx="1316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" y="3675887"/>
            <a:ext cx="3749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Provenance forgery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409651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6E4F7"/>
                </a:solidFill>
              </a:rPr>
              <a:t>Adversary attributes a modified dataset to a different creator — requires non-repudiable signatures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8600" y="4791456"/>
            <a:ext cx="5760720" cy="109728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28600" y="4791456"/>
            <a:ext cx="548640" cy="109728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8600" y="510235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75E"/>
                </a:solidFill>
              </a:rPr>
              <a:t>T4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26280" y="4864608"/>
            <a:ext cx="1353312" cy="329184"/>
          </a:xfrm>
          <a:prstGeom prst="rect">
            <a:avLst/>
          </a:prstGeom>
          <a:solidFill>
            <a:srgbClr val="185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44568" y="4873752"/>
            <a:ext cx="1316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sys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" y="4846320"/>
            <a:ext cx="3749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Rollback / stale data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" y="5266944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6E4F7"/>
                </a:solidFill>
              </a:rPr>
              <a:t>Valid, properly signed older version replaces current file — cryptography passes but data is stale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44768" y="1280160"/>
            <a:ext cx="5760720" cy="109728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44768" y="1280160"/>
            <a:ext cx="548640" cy="109728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44768" y="1591056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75E"/>
                </a:solidFill>
              </a:rPr>
              <a:t>T5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442448" y="1353312"/>
            <a:ext cx="1353312" cy="329184"/>
          </a:xfrm>
          <a:prstGeom prst="rect">
            <a:avLst/>
          </a:prstGeom>
          <a:solidFill>
            <a:srgbClr val="7A4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60736" y="1362456"/>
            <a:ext cx="1316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PQ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59" y="1335024"/>
            <a:ext cx="3749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Harvest-now, forge-later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559" y="1755648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6E4F7"/>
                </a:solidFill>
              </a:rPr>
              <a:t>Archives signed today are broken by CRQC in 2040–2070 via Shor's algorithm on Ed25519 / ECDSA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2450591"/>
            <a:ext cx="5760720" cy="109728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2450591"/>
            <a:ext cx="548640" cy="109728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44768" y="2761487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75E"/>
                </a:solidFill>
              </a:rPr>
              <a:t>T6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42448" y="2523744"/>
            <a:ext cx="1353312" cy="329184"/>
          </a:xfrm>
          <a:prstGeom prst="rect">
            <a:avLst/>
          </a:prstGeom>
          <a:solidFill>
            <a:srgbClr val="185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60736" y="2532887"/>
            <a:ext cx="1316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sys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66559" y="2505456"/>
            <a:ext cx="3749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Algorithm downgrade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59" y="2926079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6E4F7"/>
                </a:solidFill>
              </a:rPr>
              <a:t>Adversary strips provenance metadata or degrades hash/AEAD identifiers to force fail-open or weaker crypto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44768" y="3621024"/>
            <a:ext cx="5760720" cy="109728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44768" y="3621024"/>
            <a:ext cx="548640" cy="109728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44768" y="39319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75E"/>
                </a:solidFill>
              </a:rPr>
              <a:t>T7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442448" y="3694176"/>
            <a:ext cx="1353312" cy="329184"/>
          </a:xfrm>
          <a:prstGeom prst="rect">
            <a:avLst/>
          </a:prstGeom>
          <a:solidFill>
            <a:srgbClr val="185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460736" y="3703320"/>
            <a:ext cx="1316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sys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59" y="3675887"/>
            <a:ext cx="3749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Verification DoS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66559" y="409651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6E4F7"/>
                </a:solidFill>
              </a:rPr>
              <a:t>Malformed companion dataset with crafted tree depth or coverage certificate exhausts verifier memory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44768" y="4791456"/>
            <a:ext cx="5760720" cy="109728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44768" y="4791456"/>
            <a:ext cx="548640" cy="109728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44768" y="510235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75E"/>
                </a:solidFill>
              </a:rPr>
              <a:t>T8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442448" y="4864608"/>
            <a:ext cx="1353312" cy="329184"/>
          </a:xfrm>
          <a:prstGeom prst="rect">
            <a:avLst/>
          </a:prstGeom>
          <a:solidFill>
            <a:srgbClr val="2A6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460736" y="4873752"/>
            <a:ext cx="1316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priv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66559" y="4846320"/>
            <a:ext cx="3749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Structural leakage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66559" y="5266944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6E4F7"/>
                </a:solidFill>
              </a:rPr>
              <a:t>SMT null-leaf positions reveal unallocated chunk grid — geographic or genomic structure exposed without decryption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§4  Twelve Requirements for HDF5 Integrity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7"/>
                </a:solidFill>
              </a:rPr>
              <a:t>Any candidate primitive must satisfy all twelve — simultaneously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56248"/>
            <a:ext cx="1179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S2-D2 · Tamper Detection &amp; Data Integrity · Sections 3 &amp; 4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658368" cy="5120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6583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75E"/>
                </a:solidFill>
              </a:rPr>
              <a:t>R1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4983" y="1298448"/>
            <a:ext cx="5212080" cy="512064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131673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Partial verification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" y="1554480"/>
            <a:ext cx="5029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6E4F7"/>
                </a:solidFill>
              </a:rPr>
              <a:t>Verify k chunks at O(k log N), no full rehash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121408"/>
            <a:ext cx="658368" cy="5120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176272"/>
            <a:ext cx="6583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75E"/>
                </a:solidFill>
              </a:rPr>
              <a:t>R2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14983" y="2121408"/>
            <a:ext cx="5212080" cy="512064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6424" y="213969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Incremental extend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6424" y="2377439"/>
            <a:ext cx="5029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6E4F7"/>
                </a:solidFill>
              </a:rPr>
              <a:t>Append chunks in O(log N), no re-sign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944368"/>
            <a:ext cx="658368" cy="5120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2999232"/>
            <a:ext cx="6583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75E"/>
                </a:solidFill>
              </a:rPr>
              <a:t>R3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983" y="2944368"/>
            <a:ext cx="5212080" cy="512064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6424" y="296265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In-place update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" y="3200400"/>
            <a:ext cx="5029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6E4F7"/>
                </a:solidFill>
              </a:rPr>
              <a:t>Overwrite chunk k in O(log N) tree-update work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3767328"/>
            <a:ext cx="658368" cy="5120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3822191"/>
            <a:ext cx="6583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75E"/>
                </a:solidFill>
              </a:rPr>
              <a:t>R4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14983" y="3767328"/>
            <a:ext cx="5212080" cy="512064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6424" y="3785615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Tamper localization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" y="4023360"/>
            <a:ext cx="5029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6E4F7"/>
                </a:solidFill>
              </a:rPr>
              <a:t>Identify which chunks changed, not just 'something did'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4590288"/>
            <a:ext cx="658368" cy="5120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4645151"/>
            <a:ext cx="6583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75E"/>
                </a:solidFill>
              </a:rPr>
              <a:t>R5a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83" y="4590288"/>
            <a:ext cx="5212080" cy="512064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6424" y="4608575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Chunk authenticity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" y="4846320"/>
            <a:ext cx="5029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6E4F7"/>
                </a:solidFill>
              </a:rPr>
              <a:t>Each chunk tied to signer's commitment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5413248"/>
            <a:ext cx="658368" cy="5120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5468112"/>
            <a:ext cx="6583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75E"/>
                </a:solidFill>
              </a:rPr>
              <a:t>R5b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4983" y="5413248"/>
            <a:ext cx="5212080" cy="512064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06424" y="543153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Coverage proof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6424" y="5669280"/>
            <a:ext cx="5029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6E4F7"/>
                </a:solidFill>
              </a:rPr>
              <a:t>Prove delivered set is exactly the requested hyperslab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1298448"/>
            <a:ext cx="658368" cy="5120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63640" y="1353312"/>
            <a:ext cx="6583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75E"/>
                </a:solidFill>
              </a:rPr>
              <a:t>R6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3" y="1298448"/>
            <a:ext cx="5212080" cy="512064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50024" y="131673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Public verifiability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50024" y="1554480"/>
            <a:ext cx="5029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6E4F7"/>
                </a:solidFill>
              </a:rPr>
              <a:t>No secret key required — any auditor can verify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63640" y="2121408"/>
            <a:ext cx="658368" cy="5120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63640" y="2176272"/>
            <a:ext cx="6583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75E"/>
                </a:solidFill>
              </a:rPr>
              <a:t>R7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58583" y="2121408"/>
            <a:ext cx="5212080" cy="512064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50024" y="213969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Compact proof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50024" y="2377439"/>
            <a:ext cx="5029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6E4F7"/>
                </a:solidFill>
              </a:rPr>
              <a:t>Proof size sublinear in N  (target: O(k log N))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2944368"/>
            <a:ext cx="658368" cy="5120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63640" y="2999232"/>
            <a:ext cx="6583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75E"/>
                </a:solidFill>
              </a:rPr>
              <a:t>R8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58583" y="2944368"/>
            <a:ext cx="5212080" cy="512064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50024" y="296265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No trusted setup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50024" y="3200400"/>
            <a:ext cx="5029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6E4F7"/>
                </a:solidFill>
              </a:rPr>
              <a:t>No MPC ceremony, no trapdoored parameters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63640" y="3767328"/>
            <a:ext cx="658368" cy="5120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63640" y="3822191"/>
            <a:ext cx="6583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75E"/>
                </a:solidFill>
              </a:rPr>
              <a:t>R9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958583" y="3767328"/>
            <a:ext cx="5212080" cy="512064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50024" y="3785615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Post-quantum path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50024" y="4023360"/>
            <a:ext cx="5029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6E4F7"/>
                </a:solidFill>
              </a:rPr>
              <a:t>Survives Shor: swap hash/sig, no re-sign of archives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63640" y="4590288"/>
            <a:ext cx="658368" cy="5120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63640" y="4645151"/>
            <a:ext cx="6583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75E"/>
                </a:solidFill>
              </a:rPr>
              <a:t>R10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958583" y="4590288"/>
            <a:ext cx="5212080" cy="512064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050024" y="4608575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HPC-feasible build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50024" y="4846320"/>
            <a:ext cx="5029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6E4F7"/>
                </a:solidFill>
              </a:rPr>
              <a:t>Commitment at memory-bandwidth speed on commodity HW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63640" y="5413248"/>
            <a:ext cx="658368" cy="5120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63640" y="5468112"/>
            <a:ext cx="6583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75E"/>
                </a:solidFill>
              </a:rPr>
              <a:t>R11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58583" y="5413248"/>
            <a:ext cx="5212080" cy="512064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0024" y="543153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Distributed parallel build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050024" y="5669280"/>
            <a:ext cx="5029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6E4F7"/>
                </a:solidFill>
              </a:rPr>
              <a:t>Leaves computed independently per node; O(log P) MPI reduction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263640" y="6236208"/>
            <a:ext cx="658368" cy="5120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63640" y="6291072"/>
            <a:ext cx="6583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75E"/>
                </a:solidFill>
              </a:rPr>
              <a:t>R12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958583" y="6236208"/>
            <a:ext cx="5212080" cy="512064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050024" y="625449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Structure confidentiality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50024" y="6492240"/>
            <a:ext cx="5029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6E4F7"/>
                </a:solidFill>
              </a:rPr>
              <a:t>Sparse null-leaf positions hidden from observers who cannot decrypt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§4  Candidate Primitives vs. Requirements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56248"/>
            <a:ext cx="1179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S2-D2 · Tamper Detection &amp; Data Integrity · Sections 3 &amp; 4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1207008"/>
            <a:ext cx="923544" cy="512064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2024" y="1225296"/>
            <a:ext cx="896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Req.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24712" y="1207008"/>
            <a:ext cx="987552" cy="512064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2144" y="1225296"/>
            <a:ext cx="960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Flat
hash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48840" y="1207008"/>
            <a:ext cx="987552" cy="512064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76272" y="1225296"/>
            <a:ext cx="960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Per-chk
MAC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72968" y="1207008"/>
            <a:ext cx="987552" cy="512064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1225296"/>
            <a:ext cx="960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Per-chk
sig.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97096" y="1207008"/>
            <a:ext cx="987552" cy="512064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24528" y="1225296"/>
            <a:ext cx="960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RSA
acc.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21224" y="1207008"/>
            <a:ext cx="987552" cy="512064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48656" y="1225296"/>
            <a:ext cx="960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KZG/
Verkle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5352" y="1207008"/>
            <a:ext cx="987552" cy="512064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2784" y="1225296"/>
            <a:ext cx="960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ZKP/
PoR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69480" y="1207008"/>
            <a:ext cx="1060704" cy="512064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96912" y="1225296"/>
            <a:ext cx="103327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TEE/
fs-verity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66760" y="1207008"/>
            <a:ext cx="1060704" cy="512064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4192" y="1225296"/>
            <a:ext cx="103327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0A500"/>
                </a:solidFill>
              </a:rPr>
              <a:t>Merkle
tree 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4592" y="1737360"/>
            <a:ext cx="9262872" cy="301751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79" y="1773936"/>
            <a:ext cx="905256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R1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177393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67128" y="177393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91256" y="177393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15383" y="177393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39512" y="177393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177393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samp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87768" y="1773936"/>
            <a:ext cx="1042415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66760" y="1737360"/>
            <a:ext cx="1060704" cy="301751"/>
          </a:xfrm>
          <a:prstGeom prst="rect">
            <a:avLst/>
          </a:prstGeom>
          <a:solidFill>
            <a:srgbClr val="D0EA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85048" y="1773936"/>
            <a:ext cx="1042415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64592" y="2057400"/>
            <a:ext cx="9262872" cy="3017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2879" y="2093976"/>
            <a:ext cx="905256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R2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209397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67128" y="209397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91256" y="209397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15383" y="209397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39512" y="209397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63640" y="209397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87768" y="2093976"/>
            <a:ext cx="1042415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2057400"/>
            <a:ext cx="1060704" cy="301751"/>
          </a:xfrm>
          <a:prstGeom prst="rect">
            <a:avLst/>
          </a:prstGeom>
          <a:solidFill>
            <a:srgbClr val="D0EA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85048" y="2093976"/>
            <a:ext cx="1042415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64592" y="2377439"/>
            <a:ext cx="9262872" cy="301751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82879" y="2414015"/>
            <a:ext cx="905256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R3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3000" y="2414015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67128" y="2414015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91256" y="2414015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15383" y="2414015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39512" y="2414015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63640" y="2414015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87768" y="2414015"/>
            <a:ext cx="1042415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66760" y="2377439"/>
            <a:ext cx="1060704" cy="301751"/>
          </a:xfrm>
          <a:prstGeom prst="rect">
            <a:avLst/>
          </a:prstGeom>
          <a:solidFill>
            <a:srgbClr val="D0EA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85048" y="2414015"/>
            <a:ext cx="1042415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64592" y="2697479"/>
            <a:ext cx="9262872" cy="3017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82879" y="2734056"/>
            <a:ext cx="905256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R4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3000" y="273405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67128" y="273405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191256" y="273405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15383" y="273405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39512" y="273405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prt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63640" y="273405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87768" y="2734056"/>
            <a:ext cx="1042415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66760" y="2697479"/>
            <a:ext cx="1060704" cy="301751"/>
          </a:xfrm>
          <a:prstGeom prst="rect">
            <a:avLst/>
          </a:prstGeom>
          <a:solidFill>
            <a:srgbClr val="D0EA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85048" y="2734056"/>
            <a:ext cx="1042415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64592" y="3017520"/>
            <a:ext cx="9262872" cy="301751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82879" y="3054096"/>
            <a:ext cx="905256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R5a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43000" y="305409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167128" y="305409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191256" y="305409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15383" y="305409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39512" y="305409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63640" y="305409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87768" y="3054096"/>
            <a:ext cx="1042415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66760" y="3017520"/>
            <a:ext cx="1060704" cy="301751"/>
          </a:xfrm>
          <a:prstGeom prst="rect">
            <a:avLst/>
          </a:prstGeom>
          <a:solidFill>
            <a:srgbClr val="D0EA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385048" y="3054096"/>
            <a:ext cx="1042415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4592" y="3337560"/>
            <a:ext cx="9262872" cy="3017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82879" y="3374136"/>
            <a:ext cx="905256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R5b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43000" y="337413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167128" y="337413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91256" y="337413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215383" y="337413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239512" y="337413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63640" y="337413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287768" y="3374136"/>
            <a:ext cx="1042415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366760" y="3337560"/>
            <a:ext cx="1060704" cy="301751"/>
          </a:xfrm>
          <a:prstGeom prst="rect">
            <a:avLst/>
          </a:prstGeom>
          <a:solidFill>
            <a:srgbClr val="D0EA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385048" y="3374136"/>
            <a:ext cx="1042415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64592" y="3657599"/>
            <a:ext cx="9262872" cy="301751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82879" y="3694175"/>
            <a:ext cx="905256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R6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43000" y="3694175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167128" y="3694175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91256" y="3694175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215383" y="3694175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239512" y="3694175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263640" y="3694175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87768" y="3694175"/>
            <a:ext cx="1042415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vnd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366760" y="3657599"/>
            <a:ext cx="1060704" cy="301751"/>
          </a:xfrm>
          <a:prstGeom prst="rect">
            <a:avLst/>
          </a:prstGeom>
          <a:solidFill>
            <a:srgbClr val="D0EA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385048" y="3694175"/>
            <a:ext cx="1042415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64592" y="3977639"/>
            <a:ext cx="9262872" cy="3017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82879" y="4014215"/>
            <a:ext cx="905256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R7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43000" y="4014215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—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67128" y="4014215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16k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91256" y="4014215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64k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15383" y="4014215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O(1)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39512" y="4014215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O(1)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63640" y="4014215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O(1)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287768" y="4014215"/>
            <a:ext cx="1042415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—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366760" y="3977639"/>
            <a:ext cx="1060704" cy="301751"/>
          </a:xfrm>
          <a:prstGeom prst="rect">
            <a:avLst/>
          </a:prstGeom>
          <a:solidFill>
            <a:srgbClr val="D0EA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385048" y="4014215"/>
            <a:ext cx="1042415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32k·lgN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64592" y="4297679"/>
            <a:ext cx="9262872" cy="301751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82879" y="4334255"/>
            <a:ext cx="905256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R8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43000" y="4334255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167128" y="4334255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191256" y="4334255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215383" y="4334255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239512" y="4334255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263640" y="4334255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var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287768" y="4334255"/>
            <a:ext cx="1042415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vnd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366760" y="4297679"/>
            <a:ext cx="1060704" cy="301751"/>
          </a:xfrm>
          <a:prstGeom prst="rect">
            <a:avLst/>
          </a:prstGeom>
          <a:solidFill>
            <a:srgbClr val="D0EA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385048" y="4334255"/>
            <a:ext cx="1042415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64592" y="4617720"/>
            <a:ext cx="9262872" cy="3017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82879" y="4654296"/>
            <a:ext cx="905256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R9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143000" y="465429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167128" y="465429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191256" y="465429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215383" y="465429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239512" y="465429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263640" y="465429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STARK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287768" y="4654296"/>
            <a:ext cx="1042415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vnd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366760" y="4617720"/>
            <a:ext cx="1060704" cy="301751"/>
          </a:xfrm>
          <a:prstGeom prst="rect">
            <a:avLst/>
          </a:prstGeom>
          <a:solidFill>
            <a:srgbClr val="D0EA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385048" y="4654296"/>
            <a:ext cx="1042415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64592" y="4937760"/>
            <a:ext cx="9262872" cy="301751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82879" y="4974336"/>
            <a:ext cx="905256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R10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43000" y="497433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167128" y="497433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191256" y="497433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215383" y="497433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239512" y="497433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1s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497433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287768" y="4974336"/>
            <a:ext cx="1042415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8366760" y="4937760"/>
            <a:ext cx="1060704" cy="301751"/>
          </a:xfrm>
          <a:prstGeom prst="rect">
            <a:avLst/>
          </a:prstGeom>
          <a:solidFill>
            <a:srgbClr val="D0EA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8385048" y="4974336"/>
            <a:ext cx="1042415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64592" y="5257800"/>
            <a:ext cx="9262872" cy="3017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82879" y="5294376"/>
            <a:ext cx="905256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R11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143000" y="529437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167128" y="529437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191256" y="529437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15383" y="529437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239512" y="529437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263640" y="529437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7287768" y="5294376"/>
            <a:ext cx="1042415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vnd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8366760" y="5257800"/>
            <a:ext cx="1060704" cy="301751"/>
          </a:xfrm>
          <a:prstGeom prst="rect">
            <a:avLst/>
          </a:prstGeom>
          <a:solidFill>
            <a:srgbClr val="D0EA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8385048" y="5294376"/>
            <a:ext cx="1042415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64592" y="5577840"/>
            <a:ext cx="9262872" cy="301751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82879" y="5614416"/>
            <a:ext cx="905256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R12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43000" y="561441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167128" y="561441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191256" y="561441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215383" y="561441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239512" y="561441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263640" y="5614416"/>
            <a:ext cx="969264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287768" y="5614416"/>
            <a:ext cx="1042415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8366760" y="5577840"/>
            <a:ext cx="1060704" cy="301751"/>
          </a:xfrm>
          <a:prstGeom prst="rect">
            <a:avLst/>
          </a:prstGeom>
          <a:solidFill>
            <a:srgbClr val="D0EA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8385048" y="5614416"/>
            <a:ext cx="1042415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opt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64592" y="6400800"/>
            <a:ext cx="1179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888888"/>
                </a:solidFill>
              </a:rPr>
              <a:t>samp=sampling only  |  prt=partial  |  vnd=vendor-locked  |  var=varies  |  opt=opt-in (SMT with PRF-masked null hashes)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§4  Selection: Hash Tree with a Signed Root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7"/>
                </a:solidFill>
              </a:rPr>
              <a:t>The only primitive satisfying R1–R12 without trusted setup or quantum liability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56248"/>
            <a:ext cx="1179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S2-D2 · Tamper Detection &amp; Data Integrity · Sections 3 &amp; 4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11548872" cy="658368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16736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✓   Merkle tree (binary / sparse)  +  hybrid Ed25519 · ML-DSA-65 root signature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048256"/>
            <a:ext cx="54864" cy="53035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6654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Subset &amp; coverage proofs (R5a, R5b, R7)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2331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6E4F7"/>
                </a:solidFill>
              </a:rPr>
              <a:t>O(k log N) multiproof — comes directly from tree structure; no extra primitive needed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770632"/>
            <a:ext cx="54864" cy="53035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27889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Tamper localization (R4)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305409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6E4F7"/>
                </a:solidFill>
              </a:rPr>
              <a:t>Root-to-leaf walk isolates modified chunks in O(log N)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493008"/>
            <a:ext cx="54864" cy="53035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351129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In-place update &amp; append (R2, R3)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37764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6E4F7"/>
                </a:solidFill>
              </a:rPr>
              <a:t>Recompute only ⌈log₂ N⌉ ≈ 24 SHA-256 calls per update at N = 10⁷  (~3 µs on SHA-NI)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215384"/>
            <a:ext cx="54864" cy="53035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42336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No trusted setup · Post-quantum (R8, R9)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44988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6E4F7"/>
                </a:solidFill>
              </a:rPr>
              <a:t>PQ-safe hash today; swap signature to ML-DSA-65 / SLH-DSA without re-signing archives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937760"/>
            <a:ext cx="54864" cy="53035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4956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HPC-feasible build (R10)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" y="522122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6E4F7"/>
                </a:solidFill>
              </a:rPr>
              <a:t>10 TB committed in ~30 s across ~200 HPC cores; tree aggregation &lt; 1 s on one core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5660136"/>
            <a:ext cx="54864" cy="53035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567842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Public verifiability (R6)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" y="5943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6E4F7"/>
                </a:solidFill>
              </a:rPr>
              <a:t>Only the signer's public key needed — any auditor, mirror, or collaborator can verify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§4  Why Not the Alternatives?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7"/>
                </a:solidFill>
              </a:rPr>
              <a:t>Each alternative falls to a single knockout criterion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56248"/>
            <a:ext cx="1179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S2-D2 · Tamper Detection &amp; Data Integrity · Sections 3 &amp; 4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5669280" cy="1572768"/>
          </a:xfrm>
          <a:prstGeom prst="rect">
            <a:avLst/>
          </a:prstGeom>
          <a:solidFill>
            <a:srgbClr val="22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59" y="1389888"/>
            <a:ext cx="1371600" cy="38404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07992" y="1408176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Fails R8 + R9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7160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A500"/>
                </a:solidFill>
              </a:rPr>
              <a:t>Verkle trees
(KZG-based)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865376"/>
            <a:ext cx="54406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7"/>
                </a:solidFill>
              </a:rPr>
              <a:t>KZG requires a trusted-setup ceremony. The underlying elliptic-curve pairing is broken
by Shor's algorithm. Re-signing 30 years of NOAA records in 2045 is not an option.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59" y="1298448"/>
            <a:ext cx="5669280" cy="1572768"/>
          </a:xfrm>
          <a:prstGeom prst="rect">
            <a:avLst/>
          </a:prstGeom>
          <a:solidFill>
            <a:srgbClr val="22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469880" y="1389888"/>
            <a:ext cx="1371600" cy="38404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97312" y="1408176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Fails R9 + R5b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37160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A500"/>
                </a:solidFill>
              </a:rPr>
              <a:t>BLS-aggregated
per-chunk sigs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865376"/>
            <a:ext cx="54406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7"/>
                </a:solidFill>
              </a:rPr>
              <a:t>BLS12-381 pairings are broken by Shor. No upgrade path exists.
Coverage proof (R5b) still needs a signed manifest — which reduces to a Merkle root.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008376"/>
            <a:ext cx="5669280" cy="1572768"/>
          </a:xfrm>
          <a:prstGeom prst="rect">
            <a:avLst/>
          </a:prstGeom>
          <a:solidFill>
            <a:srgbClr val="22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80559" y="3099816"/>
            <a:ext cx="1371600" cy="38404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7992" y="3118104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Fails R7 + R10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081528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A500"/>
                </a:solidFill>
              </a:rPr>
              <a:t>Per-chunk PQ sigs
(ML-DSA-65)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575304"/>
            <a:ext cx="54406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7"/>
                </a:solidFill>
              </a:rPr>
              <a:t>33 GB of signatures per dataset (N = 10⁷ chunks). Signing takes ~3 CPU-hours.
Two orders of magnitude worse than Merkle with no compensating benefit.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59" y="3008376"/>
            <a:ext cx="5669280" cy="1572768"/>
          </a:xfrm>
          <a:prstGeom prst="rect">
            <a:avLst/>
          </a:prstGeom>
          <a:solidFill>
            <a:srgbClr val="22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69880" y="3099816"/>
            <a:ext cx="1371600" cy="38404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97312" y="3118104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Fails R10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081528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A500"/>
                </a:solidFill>
              </a:rPr>
              <a:t>ZK-SNARKs /
Folding schemes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3575304"/>
            <a:ext cx="54406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7"/>
                </a:solidFill>
              </a:rPr>
              <a:t>O(N) field-operation proving overhead for static data subsetting.
Designed for computation correctness, not data authentication. &gt; 24 h to commit.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4718304"/>
            <a:ext cx="5669280" cy="1572768"/>
          </a:xfrm>
          <a:prstGeom prst="rect">
            <a:avLst/>
          </a:prstGeom>
          <a:solidFill>
            <a:srgbClr val="22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59" y="4809744"/>
            <a:ext cx="1371600" cy="38404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07992" y="482803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Fails R8 + R9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791456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A500"/>
                </a:solidFill>
              </a:rPr>
              <a:t>RSA accumulators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285232"/>
            <a:ext cx="54406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7"/>
                </a:solidFill>
              </a:rPr>
              <a:t>Require trusted setup (trapdoor exponent). Broken by Shor.
No advantage over Merkle on any other dimension.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59" y="4718304"/>
            <a:ext cx="5669280" cy="1572768"/>
          </a:xfrm>
          <a:prstGeom prst="rect">
            <a:avLst/>
          </a:prstGeom>
          <a:solidFill>
            <a:srgbClr val="22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469880" y="4809744"/>
            <a:ext cx="1371600" cy="38404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97312" y="482803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Fails R6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4791456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A500"/>
                </a:solidFill>
              </a:rPr>
              <a:t>Per-chunk MACs
/ AEAD only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5285232"/>
            <a:ext cx="54406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7"/>
                </a:solidFill>
              </a:rPr>
              <a:t>Verification requires the secret key. Third-party auditors and
downstream researchers are locked out by design.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§4  Honest Framing of the 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56248"/>
            <a:ext cx="1179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S2-D2 · Tamper Detection &amp; Data Integrity · Sections 3 &amp; 4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11548872" cy="1005840"/>
          </a:xfrm>
          <a:prstGeom prst="rect">
            <a:avLst/>
          </a:prstGeom>
          <a:solidFill>
            <a:srgbClr val="184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16736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A8D8B8"/>
                </a:solidFill>
              </a:rPr>
              <a:t>Merkle is not the only primitive satisfying R1–R7 in absolute terms.
Verkle and BLS-aggregated signatures are competitive there.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423160"/>
            <a:ext cx="11548872" cy="1170432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4688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What distinguishes Merkle: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98064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It is the only primitive achieving R1–R12 simultaneously,
without a trusted-setup ceremony and without a pairing- or
factoring-based primitive that Shor's algorithm breaks.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3749039"/>
            <a:ext cx="11548872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88620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D6E4F7"/>
                </a:solidFill>
              </a:rPr>
              <a:t>R8 and R9 are the discriminating requirements — forced by the multi-decade
archival horizon of scientific data. This constraint is absent from the
blockchain settings where KZG, Verkle, and BLS were designed.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4632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Design choices that follow from this selection: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1663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D6E4F7"/>
                </a:solidFill>
              </a:rPr>
              <a:t>  •  AEAD inside the Encrypt-then-MAC filter pipeline  (§5.7)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D6E4F7"/>
                </a:solidFill>
              </a:rPr>
              <a:t>  •  Classical + PQ hybrid root signature: Ed25519 + ML-DSA-65  (§5.8)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D6E4F7"/>
                </a:solidFill>
              </a:rPr>
              <a:t>  •  Transparency-log publication of signed roots for freshness  (§5.9)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