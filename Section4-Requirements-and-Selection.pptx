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6E4F7"/>
                </a:solidFill>
              </a:rPr>
              <a:t>Tamper Detection and Data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6E4F7"/>
                </a:solidFill>
              </a:rPr>
              <a:t>for Self-Describing Scientific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Sections 3 &amp; 4 — Survey, Requirements, and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6E4F7"/>
                </a:solidFill>
              </a:rPr>
              <a:t>Which integrity primitive survives 50-year scientific archives?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M. Scot Breitenfeld · The HDF Group · S2-D2 Research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Roadmap for This 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S2-D2 · Tamper Detection &amp; Data Integrity · Sections 3 &amp; 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94360" cy="5029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80744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75E"/>
                </a:solidFill>
              </a:rPr>
              <a:t>§3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" y="1325880"/>
            <a:ext cx="10515600" cy="50292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136245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Survey of integrity primitives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38988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14 families — capability and killer flaw for HDF5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13432"/>
            <a:ext cx="594360" cy="5029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368296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75E"/>
                </a:solidFill>
              </a:rPr>
              <a:t>§3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2313432"/>
            <a:ext cx="10515600" cy="50292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235000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What the survey reveals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774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Four structural barriers that drive the requirements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00984"/>
            <a:ext cx="594360" cy="5029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355848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75E"/>
                </a:solidFill>
              </a:rPr>
              <a:t>§4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8992" y="3300984"/>
            <a:ext cx="10515600" cy="50292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33375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Ten requirements  (R1–R10)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6499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What any primitive must satisfy for HDF5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88536"/>
            <a:ext cx="594360" cy="5029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343400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75E"/>
                </a:solidFill>
              </a:rPr>
              <a:t>§4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8992" y="4288536"/>
            <a:ext cx="10515600" cy="50292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432511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Comparison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35254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All seven alternatives scored at a glance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276088"/>
            <a:ext cx="594360" cy="5029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330952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75E"/>
                </a:solidFill>
              </a:rPr>
              <a:t>§4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8992" y="5276088"/>
            <a:ext cx="10515600" cy="50292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0432" y="531266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Selection: Merkle + PQ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34009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The only R1–R10-complete, quantum-safe option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§3  Survey: 14 Integrity Primitive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7"/>
                </a:solidFill>
              </a:rPr>
              <a:t>Each surveyed for suitability on multi-terabyte, long-lived, chunked scientific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S2-D2 · Tamper Detection &amp; Data Integrity · Sections 3 &amp; 4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61872"/>
            <a:ext cx="5833872" cy="64008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28930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Error-detection codes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508760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6E4F7"/>
                </a:solidFill>
              </a:rPr>
              <a:t>CRC-32, Fletcher-32, Adler-32, T10-PI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682495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AA"/>
                </a:solidFill>
              </a:rPr>
              <a:t>Invertible in closed form — cannot resist adversarial tampering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956815"/>
            <a:ext cx="5833872" cy="64008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1984247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Cryptographic hashes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203703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6E4F7"/>
                </a:solidFill>
              </a:rPr>
              <a:t>SHA-256, BLAKE3, SHA-3, KangarooTwelve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2377439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AA"/>
                </a:solidFill>
              </a:rPr>
              <a:t>Flat hash: verifying any chunk requires re-reading every byte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651760"/>
            <a:ext cx="5833872" cy="64008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679191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MACs / AEAD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2898648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6E4F7"/>
                </a:solidFill>
              </a:rPr>
              <a:t>HMAC-SHA-256, ChaCha20-Poly1305, AES-GCM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" y="3072384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AA"/>
                </a:solidFill>
              </a:rPr>
              <a:t>Secret key required — third-party auditors and collaborators locked 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346704"/>
            <a:ext cx="5833872" cy="64008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" y="3374136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Classical signatures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" y="3593592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6E4F7"/>
                </a:solidFill>
              </a:rPr>
              <a:t>Ed25519, ECDSA P-256, RSA-PSS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" y="3767328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AA"/>
                </a:solidFill>
              </a:rPr>
              <a:t>Broken by Shor's algorithm — 50-year archives signed today are at risk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4041648"/>
            <a:ext cx="5833872" cy="64008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" y="4069080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Post-quantum signatures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" y="4288536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6E4F7"/>
                </a:solidFill>
              </a:rPr>
              <a:t>ML-DSA-65, SLH-DSA, XMSS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" y="4462272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AA"/>
                </a:solidFill>
              </a:rPr>
              <a:t>Per-chunk: 33 GB of sigs + 3 CPU-hours to sign 10⁷ chunks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4736592"/>
            <a:ext cx="5833872" cy="64008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" y="476402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Hash trees / 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" y="4983479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0FFC0"/>
                </a:solidFill>
              </a:rPr>
              <a:t>Merkle binary, SMT, Merkle Mountain Range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" y="5157216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A500"/>
                </a:solidFill>
              </a:rPr>
              <a:t>→ THE CANDIDATE  (the only family that meets all §4 requirements)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5431536"/>
            <a:ext cx="5833872" cy="64008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" y="5458968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Verkle / KZG commitments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" y="5678424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6E4F7"/>
                </a:solidFill>
              </a:rPr>
              <a:t>KZG polynomial, Ethereum Verkle tree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" y="5852160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AA"/>
                </a:solidFill>
              </a:rPr>
              <a:t>Trusted-setup ceremony required; pairing broken by Shor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9632" y="1261872"/>
            <a:ext cx="5833872" cy="64008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28930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Cryptographic accumulators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1508760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6E4F7"/>
                </a:solidFill>
              </a:rPr>
              <a:t>RSA accumulator, bilinear accumulator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1682495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AA"/>
                </a:solidFill>
              </a:rPr>
              <a:t>Trusted setup + not PQ + set-based (no chunk order)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9632" y="1956815"/>
            <a:ext cx="5833872" cy="64008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1984247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ZK-SNARKs / Folding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2203703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6E4F7"/>
                </a:solidFill>
              </a:rPr>
              <a:t>Groth16, PLONK, Nova, HyperNova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2377439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AA"/>
                </a:solidFill>
              </a:rPr>
              <a:t>O(N) proving cost; &gt; 24 h to commit 10⁷ chunks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9632" y="2651760"/>
            <a:ext cx="5833872" cy="64008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679191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Transparency logs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2898648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6E4F7"/>
                </a:solidFill>
              </a:rPr>
              <a:t>Certificate Transparency, Sigstore Rekor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3072384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AA"/>
                </a:solidFill>
              </a:rPr>
              <a:t>Append-only — HDF5 workloads overwrite chunks in place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99632" y="3346704"/>
            <a:ext cx="5833872" cy="64008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374136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TEE / fs-verity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3593592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6E4F7"/>
                </a:solidFill>
              </a:rPr>
              <a:t>Intel SGX, ARM TrustZone, Linux fs-verity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3767328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AA"/>
                </a:solidFill>
              </a:rPr>
              <a:t>Vendor-locked; stripped when file is transferred or archived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99632" y="4041648"/>
            <a:ext cx="5833872" cy="64008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4069080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FS / cloud checksums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4288536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6E4F7"/>
                </a:solidFill>
              </a:rPr>
              <a:t>ZFS, Btrfs, S3 ETag, GCS CRC32C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4462272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AA"/>
                </a:solidFill>
              </a:rPr>
              <a:t>Stripped in transfer; no partial verification; no non-repudiation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99632" y="4736592"/>
            <a:ext cx="5833872" cy="64008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476402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Scientific format checksums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4983479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6E4F7"/>
                </a:solidFill>
              </a:rPr>
              <a:t>NetCDF CDF-5, Zarr v3 chunk hashes, Parquet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0" y="5157216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AA"/>
                </a:solidFill>
              </a:rPr>
              <a:t>Non-adversarial; no public signing or subset-proof capability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99632" y="5431536"/>
            <a:ext cx="5833872" cy="64008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0" y="5458968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W3C PROV / lineage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0" y="5678424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6E4F7"/>
                </a:solidFill>
              </a:rPr>
              <a:t>PROV-DM, ProvONE, PROV-JSON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0" y="5852160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AA"/>
                </a:solidFill>
              </a:rPr>
              <a:t>Provenance graph — complements integrity but is not a substitute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§3  What the Survey Reveals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7"/>
                </a:solidFill>
              </a:rPr>
              <a:t>Four structural barriers that no alternative escapes simultaneously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S2-D2 · Tamper Detection &amp; Data Integrity · Sections 3 &amp; 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566928" cy="1143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618488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75E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" y="1298448"/>
            <a:ext cx="10881360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353312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Non-cryptographic codes are invertible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700784"/>
            <a:ext cx="106070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CRC, Fletcher, and Adler all admit closed-form corrections.
An adversary computes a matching tail that preserves the checksum — no brute force needed.
→  The integrity primitive must be cryptographic at its core.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596896"/>
            <a:ext cx="566928" cy="1143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916936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75E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" y="2596896"/>
            <a:ext cx="10881360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5176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Symmetric auth requires a shared secret — rules out public verifiability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999232"/>
            <a:ext cx="106070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MACs and AEAD are ideal per-chunk tools, but the verifier must hold the key.
Third-party auditors, archive mirrors, and collaborators cannot verify.
→  Public verifiability eliminates any purely symmetric scheme as the root.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895344"/>
            <a:ext cx="566928" cy="1143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215383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75E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" y="3895344"/>
            <a:ext cx="10881360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950207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Pairing- and factoring-based schemes fail the 50-year archival horizon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97680"/>
            <a:ext cx="106070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Shor's algorithm breaks ECDSA, Ed25519, RSA, BLS12-381 pairings, and KZG commitments.
Scientific archives are signed today and verified in 2040–2070.
→  The post-quantum requirement eliminates Verkle, BLS aggregation, and RSA/bilinear accumulators.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193792"/>
            <a:ext cx="566928" cy="1143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513831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75E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" y="5193792"/>
            <a:ext cx="10881360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248655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Trusted-setup ceremonies are unacceptable for long-lived archives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596128"/>
            <a:ext cx="106070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KZG, Verkle, and RSA accumulators require an MPC ceremony whose
parameters must be trusted for the archive's entire lifetime.
→  No-trusted-setup eliminates every scheme with a structured reference string.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§4  Ten Requirements for HDF5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7"/>
                </a:solidFill>
              </a:rPr>
              <a:t>Any candidate primitive must satisfy all ten — simultaneously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S2-D2 · Tamper Detection &amp; Data Integrity · Sections 3 &amp; 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658368" cy="5669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7160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R1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4983" y="1298448"/>
            <a:ext cx="5212080" cy="566928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13167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Partial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15727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Verify k chunks at O(k log N), no full rehash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76856"/>
            <a:ext cx="658368" cy="5669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350008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R2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3" y="2276856"/>
            <a:ext cx="5212080" cy="566928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6424" y="22951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Incremental extend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" y="25511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Append chunks in O(log N), no re-sign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55264"/>
            <a:ext cx="658368" cy="5669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328416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R3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983" y="3255264"/>
            <a:ext cx="5212080" cy="566928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6424" y="32735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In-place 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" y="352958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Overwrite chunk k in O(log N) tree-update work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233672"/>
            <a:ext cx="658368" cy="5669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306824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R4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3" y="4233672"/>
            <a:ext cx="5212080" cy="566928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6424" y="425195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Tamper localization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" y="45079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Identify which chunks changed, not just 'something did'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212080"/>
            <a:ext cx="658368" cy="5669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285232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R5a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983" y="5212080"/>
            <a:ext cx="5212080" cy="566928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6424" y="52303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Chunk authenticity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" y="54864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Each chunk tied to signer's commitment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298448"/>
            <a:ext cx="658368" cy="5669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137160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R5b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58583" y="1298448"/>
            <a:ext cx="5212080" cy="566928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0024" y="13167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Coverage proof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0024" y="15727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Prove delivered set is exactly the requested hyperslab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2276856"/>
            <a:ext cx="658368" cy="5669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2350008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R6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3" y="2276856"/>
            <a:ext cx="5212080" cy="566928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50024" y="22951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Public verifiability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0024" y="25511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No secret key required — any auditor can verify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255264"/>
            <a:ext cx="658368" cy="5669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3328416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R7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58583" y="3255264"/>
            <a:ext cx="5212080" cy="566928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50024" y="32735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Compact proof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0024" y="352958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Proof size sublinear in N  (target: O(k log N))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4233672"/>
            <a:ext cx="658368" cy="5669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4306824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R8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58583" y="4233672"/>
            <a:ext cx="5212080" cy="566928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50024" y="425195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trusted setup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50024" y="45079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No MPC ceremony, no trapdoored parameters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5212080"/>
            <a:ext cx="658368" cy="5669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3640" y="5285232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R9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58583" y="5212080"/>
            <a:ext cx="5212080" cy="566928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50024" y="52303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Post-quantum path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50024" y="54864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Survives Shor: swap hash/sig, no re-sign of archives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§4  Candidate Primitives vs.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S2-D2 · Tamper Detection &amp; Data Integrity · Sections 3 &amp;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207008"/>
            <a:ext cx="923544" cy="512064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" y="1225296"/>
            <a:ext cx="896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Req.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4712" y="1207008"/>
            <a:ext cx="987552" cy="512064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1225296"/>
            <a:ext cx="960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Flat
hash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207008"/>
            <a:ext cx="987552" cy="512064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76272" y="1225296"/>
            <a:ext cx="960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Per-chk
MAC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72968" y="1207008"/>
            <a:ext cx="987552" cy="512064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225296"/>
            <a:ext cx="960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Per-chk
sig.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97096" y="1207008"/>
            <a:ext cx="987552" cy="512064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1225296"/>
            <a:ext cx="960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RSA
acc.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21224" y="1207008"/>
            <a:ext cx="987552" cy="512064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6" y="1225296"/>
            <a:ext cx="960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KZG/
Verkle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5352" y="1207008"/>
            <a:ext cx="987552" cy="512064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1225296"/>
            <a:ext cx="960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ZKP/
PoR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1207008"/>
            <a:ext cx="1060704" cy="512064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96912" y="1225296"/>
            <a:ext cx="10332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TEE/
fs-verity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1207008"/>
            <a:ext cx="1060704" cy="512064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1225296"/>
            <a:ext cx="10332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A500"/>
                </a:solidFill>
              </a:rPr>
              <a:t>Merkle
tree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1737360"/>
            <a:ext cx="9262872" cy="333756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79" y="1773936"/>
            <a:ext cx="905256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R1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1773936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67128" y="1773936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91256" y="1773936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15383" y="1773936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9512" y="1773936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1773936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samp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87768" y="1773936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66760" y="1737360"/>
            <a:ext cx="1060704" cy="333756"/>
          </a:xfrm>
          <a:prstGeom prst="rect">
            <a:avLst/>
          </a:prstGeom>
          <a:solidFill>
            <a:srgbClr val="D0E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5048" y="1773936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2" y="2089404"/>
            <a:ext cx="9262872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79" y="2125980"/>
            <a:ext cx="905256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R2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2125980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67128" y="2125980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91256" y="2125980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15383" y="2125980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9512" y="2125980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125980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87768" y="2125980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60" y="2089404"/>
            <a:ext cx="1060704" cy="333756"/>
          </a:xfrm>
          <a:prstGeom prst="rect">
            <a:avLst/>
          </a:prstGeom>
          <a:solidFill>
            <a:srgbClr val="D0E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85048" y="2125980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4592" y="2441448"/>
            <a:ext cx="9262872" cy="333756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2879" y="2478024"/>
            <a:ext cx="905256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R3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" y="2478024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67128" y="2478024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91256" y="2478024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15383" y="2478024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39512" y="2478024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2478024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87768" y="2478024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66760" y="2441448"/>
            <a:ext cx="1060704" cy="333756"/>
          </a:xfrm>
          <a:prstGeom prst="rect">
            <a:avLst/>
          </a:prstGeom>
          <a:solidFill>
            <a:srgbClr val="D0E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85048" y="2478024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4592" y="2793491"/>
            <a:ext cx="9262872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2879" y="2830068"/>
            <a:ext cx="905256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R4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3000" y="2830068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67128" y="2830068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91256" y="2830068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15383" y="2830068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9512" y="2830068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prt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2830068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87768" y="2830068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66760" y="2793491"/>
            <a:ext cx="1060704" cy="333756"/>
          </a:xfrm>
          <a:prstGeom prst="rect">
            <a:avLst/>
          </a:prstGeom>
          <a:solidFill>
            <a:srgbClr val="D0E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85048" y="2830068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64592" y="3145536"/>
            <a:ext cx="9262872" cy="333756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2879" y="3182112"/>
            <a:ext cx="905256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R5a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3000" y="3182112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67128" y="3182112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91256" y="3182112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15383" y="3182112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39512" y="3182112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63640" y="3182112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87768" y="3182112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66760" y="3145536"/>
            <a:ext cx="1060704" cy="333756"/>
          </a:xfrm>
          <a:prstGeom prst="rect">
            <a:avLst/>
          </a:prstGeom>
          <a:solidFill>
            <a:srgbClr val="D0E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85048" y="3182112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4592" y="3497580"/>
            <a:ext cx="9262872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2879" y="3534156"/>
            <a:ext cx="905256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R5b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43000" y="3534156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67128" y="3534156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91256" y="3534156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15383" y="3534156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39512" y="3534156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63640" y="3534156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87768" y="3534156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366760" y="3497580"/>
            <a:ext cx="1060704" cy="333756"/>
          </a:xfrm>
          <a:prstGeom prst="rect">
            <a:avLst/>
          </a:prstGeom>
          <a:solidFill>
            <a:srgbClr val="D0E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385048" y="3534156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64592" y="3849624"/>
            <a:ext cx="9262872" cy="333756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82879" y="3886200"/>
            <a:ext cx="905256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R6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43000" y="3886200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67128" y="3886200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191256" y="3886200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15383" y="3886200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39512" y="3886200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63640" y="3886200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87768" y="3886200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vnd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366760" y="3849624"/>
            <a:ext cx="1060704" cy="333756"/>
          </a:xfrm>
          <a:prstGeom prst="rect">
            <a:avLst/>
          </a:prstGeom>
          <a:solidFill>
            <a:srgbClr val="D0E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85048" y="3886200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64592" y="4201668"/>
            <a:ext cx="9262872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82879" y="4238244"/>
            <a:ext cx="905256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R7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43000" y="4238244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—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67128" y="4238244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16k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191256" y="4238244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64k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15383" y="4238244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O(1)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239512" y="4238244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O(1)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63640" y="4238244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O(1)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287768" y="4238244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—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366760" y="4201668"/>
            <a:ext cx="1060704" cy="333756"/>
          </a:xfrm>
          <a:prstGeom prst="rect">
            <a:avLst/>
          </a:prstGeom>
          <a:solidFill>
            <a:srgbClr val="D0E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385048" y="4238244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32k·lgN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64592" y="4553712"/>
            <a:ext cx="9262872" cy="333756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82879" y="4590288"/>
            <a:ext cx="905256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R8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43000" y="4590288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167128" y="4590288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191256" y="4590288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215383" y="4590288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239512" y="4590288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63640" y="4590288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var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287768" y="4590288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vnd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366760" y="4553712"/>
            <a:ext cx="1060704" cy="333756"/>
          </a:xfrm>
          <a:prstGeom prst="rect">
            <a:avLst/>
          </a:prstGeom>
          <a:solidFill>
            <a:srgbClr val="D0E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385048" y="4590288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4592" y="4905756"/>
            <a:ext cx="9262872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82879" y="4942332"/>
            <a:ext cx="905256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R9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43000" y="4942332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167128" y="4942332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191256" y="4942332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215383" y="4942332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239512" y="4942332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63640" y="4942332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STARK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287768" y="4942332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vnd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366760" y="4905756"/>
            <a:ext cx="1060704" cy="333756"/>
          </a:xfrm>
          <a:prstGeom prst="rect">
            <a:avLst/>
          </a:prstGeom>
          <a:solidFill>
            <a:srgbClr val="D0E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385048" y="4942332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64592" y="5257800"/>
            <a:ext cx="9262872" cy="333756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82879" y="5294376"/>
            <a:ext cx="905256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R10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43000" y="5294376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67128" y="5294376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191256" y="5294376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215383" y="5294376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239512" y="5294376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5E"/>
                </a:solidFill>
              </a:rPr>
              <a:t>1s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263640" y="5294376"/>
            <a:ext cx="969264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287768" y="5294376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366760" y="5257800"/>
            <a:ext cx="1060704" cy="333756"/>
          </a:xfrm>
          <a:prstGeom prst="rect">
            <a:avLst/>
          </a:prstGeom>
          <a:solidFill>
            <a:srgbClr val="D0E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385048" y="5294376"/>
            <a:ext cx="1042415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64592" y="640080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88"/>
                </a:solidFill>
              </a:rPr>
              <a:t>samp=sampling only  |  prt=partial  |  vnd=vendor-locked  |  var=varies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§4  Selection: Hash Tree with a Signed Root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7"/>
                </a:solidFill>
              </a:rPr>
              <a:t>The only primitive satisfying R1–R10 without trusted setup or quantum liability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S2-D2 · Tamper Detection &amp; Data Integrity · Sections 3 &amp; 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11548872" cy="65836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1673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✓   Merkle tree (binary / sparse)  +  hybrid Ed25519 · ML-DSA-65 root signature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48256"/>
            <a:ext cx="54864" cy="5303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6654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Subset &amp; coverage proofs (R5a, R5b, R7)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331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O(k log N) multiproof — comes directly from tree structure; no extra primitive needed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70632"/>
            <a:ext cx="54864" cy="5303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788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Tamper localization (R4)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05409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Root-to-leaf walk isolates modified chunks in O(log 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493008"/>
            <a:ext cx="54864" cy="5303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51129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In-place update &amp; append (R2, R3)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776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Recompute only ⌈log₂ N⌉ ≈ 24 SHA-256 calls per update at N = 10⁷  (~3 µs on SHA-NI)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215384"/>
            <a:ext cx="54864" cy="5303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233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 trusted setup · Post-quantum (R8, R9)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4988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PQ-safe hash today; swap signature to ML-DSA-65 / SLH-DSA without re-signing archives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937760"/>
            <a:ext cx="54864" cy="5303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4956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HPC-feasible build (R10)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522122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10 TB committed in ~30 s across ~200 HPC cores; tree aggregation &lt; 1 s on one 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660136"/>
            <a:ext cx="54864" cy="5303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567842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Public verifiability (R6)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Only the signer's public key needed — any auditor, mirror, or collaborator can verify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§4  Why Not the Alternatives?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7"/>
                </a:solidFill>
              </a:rPr>
              <a:t>Each alternative falls to a single knockout criterion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S2-D2 · Tamper Detection &amp; Data Integrity · Sections 3 &amp; 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5669280" cy="1572768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389888"/>
            <a:ext cx="1371600" cy="38404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408176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Fails R8 + R9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716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Verkle trees
(KZG-based)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65376"/>
            <a:ext cx="54406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KZG requires a trusted-setup ceremony. The underlying elliptic-curve pairing is broken
by Shor's algorithm. Re-signing 30 years of NOAA records in 2045 is not an option.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298448"/>
            <a:ext cx="5669280" cy="1572768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69880" y="1389888"/>
            <a:ext cx="1371600" cy="38404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97312" y="1408176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Fails R9 + R5b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3716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BLS-aggregated
per-chunk sigs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865376"/>
            <a:ext cx="54406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BLS12-381 pairings are broken by Shor. No upgrade path exists.
Coverage proof (R5b) still needs a signed manifest — which reduces to a Merkle root.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008376"/>
            <a:ext cx="5669280" cy="1572768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59" y="3099816"/>
            <a:ext cx="1371600" cy="38404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3118104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Fails R7 + R10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8152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Per-chunk PQ sigs
(ML-DSA-65)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75304"/>
            <a:ext cx="54406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33 GB of signatures per dataset (N = 10⁷ chunks). Signing takes ~3 CPU-hours.
Two orders of magnitude worse than Merkle with no compensating benefit.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3008376"/>
            <a:ext cx="5669280" cy="1572768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69880" y="3099816"/>
            <a:ext cx="1371600" cy="38404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97312" y="3118104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Fails R10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08152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ZK-SNARKs /
Folding schemes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575304"/>
            <a:ext cx="54406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O(N) field-operation proving overhead for static data subsetting.
Designed for computation correctness, not data authentication. &gt; 24 h to commit.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18304"/>
            <a:ext cx="5669280" cy="1572768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59" y="4809744"/>
            <a:ext cx="1371600" cy="38404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7992" y="482803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Fails R8 + R9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791456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RSA accumulators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285232"/>
            <a:ext cx="54406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Require trusted setup (trapdoor exponent). Broken by Shor.
No advantage over Merkle on any other dimension.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4718304"/>
            <a:ext cx="5669280" cy="1572768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469880" y="4809744"/>
            <a:ext cx="1371600" cy="38404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97312" y="482803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Fails R6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791456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Per-chunk MACs
/ AEAD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285232"/>
            <a:ext cx="54406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Verification requires the secret key. Third-party auditors and
downstream researchers are locked out by design.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§4  Honest Framing of the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S2-D2 · Tamper Detection &amp; Data Integrity · Sections 3 &amp; 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11548872" cy="1005840"/>
          </a:xfrm>
          <a:prstGeom prst="rect">
            <a:avLst/>
          </a:prstGeom>
          <a:solidFill>
            <a:srgbClr val="184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16736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8D8B8"/>
                </a:solidFill>
              </a:rPr>
              <a:t>Merkle is not the only primitive satisfying R1–R7 in absolute terms.
Verkle and BLS-aggregated signatures are competitive there.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23160"/>
            <a:ext cx="11548872" cy="1170432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What distinguishes Merkle: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98064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It is the only primitive achieving R1–R10 simultaneously,
without a trusted-setup ceremony and without a pairing- or
factoring-based primitive that Shor's algorithm breaks.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749039"/>
            <a:ext cx="1154887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8862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7"/>
                </a:solidFill>
              </a:rPr>
              <a:t>R8 and R9 are the discriminating requirements — forced by the multi-decade
archival horizon of scientific data. This constraint is absent from the
blockchain settings where KZG, Verkle, and BLS were designed.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463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Design choices that follow from this selection: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66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D6E4F7"/>
                </a:solidFill>
              </a:rPr>
              <a:t>  •  AEAD inside the Encrypt-then-MAC filter pipeline  (§5.7)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D6E4F7"/>
                </a:solidFill>
              </a:rPr>
              <a:t>  •  Classical + PQ hybrid root signature: Ed25519 + ML-DSA-65  (§5.8)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D6E4F7"/>
                </a:solidFill>
              </a:rPr>
              <a:t>  •  Transparency-log publication of signed roots for freshness  (§5.9)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